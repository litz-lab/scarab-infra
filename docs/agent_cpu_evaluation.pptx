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B579A"/>
                </a:solidFill>
              </a:defRPr>
            </a:pPr>
            <a:r>
              <a:t>CPU Microarchitecture Evaluation</a:t>
            </a:r>
            <a:br/>
            <a:r>
              <a:t>of Agentic AI Workloads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7F7F7F"/>
                </a:solidFill>
              </a:defRPr>
            </a:pPr>
            <a:r>
              <a:t>SimPoint-based trace collection &amp; Scarab simulation</a:t>
            </a:r>
          </a:p>
          <a:p>
            <a:pPr>
              <a:spcAft>
                <a:spcPts val="400"/>
              </a:spcAft>
              <a:defRPr sz="2000">
                <a:solidFill>
                  <a:srgbClr val="7F7F7F"/>
                </a:solidFill>
              </a:defRPr>
            </a:pPr>
            <a:r>
              <a:t>for LangChain, LangGraph, AutoGen, Haystack (RAG), and SWE-Agent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7F7F7F"/>
                </a:solidFill>
              </a:defRPr>
            </a:pPr>
            <a:r>
              <a:t>Surim Oh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B579A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Agentic AI is an emerging CPU workload class — orchestration, tool calling, state management</a:t>
            </a:r>
          </a:p>
          <a:p>
            <a:pPr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Current CPU benchmarks (SPEC, GeekBench) don't capture agent execution patterns</a:t>
            </a:r>
          </a:p>
          <a:p>
            <a:pPr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Agent workloads have distinct microarchitectural signatures: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Frontend-bound: deep call stacks, polymorphic dispatch, large code footprints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Backend-bound: JSON/string processing, hash table lookups, dict manipulation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Branch-heavy: conditional tool selection, state-machine transitions</a:t>
            </a:r>
          </a:p>
          <a:p>
            <a:pPr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Goal: characterize 5 agent workloads spanning frameworks and application archetypes</a:t>
            </a:r>
          </a:p>
          <a:p>
            <a:pPr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Method: perf stat (real HW) + SimPoint traces → Scarab cycle-accurate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B579A"/>
                </a:solidFill>
              </a:defRPr>
            </a:pPr>
            <a:r>
              <a:t>Workload Suite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97280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Archetype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Key Computation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Mock Components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Peak RSS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LangChain Core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Simple agent loop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JSON ser/deser, string ops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Fake tool (local_search)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50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ReAct agent (graph)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JSON, message passing, graph traversal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FakeToolCallingModel, 3 tools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~80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AutoGen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AutoGen AgentChat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Multi-agent (async)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Async orchestration, JSON, dict ops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ReplayChatCompletionClient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~90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Haystack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Sentence-Transformers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+ FAISS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RAG pipeline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FP32 embedding, SIMD dot-product,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numpy matrix ops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Real model, synthetic corpus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519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SWE-Agent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LangGraph StateGraph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Multi-step planning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Regex, string/dict manipulation,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branchy control flow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6 mock dev tools, scripted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20-step sequence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252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579A"/>
                </a:solidFill>
              </a:defRPr>
            </a:pPr>
            <a:r>
              <a:t>Workload Algorithms (1/3): LangChain &amp; LangGraph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F77B4"/>
                </a:solidFill>
              </a:defRPr>
            </a:pPr>
            <a:r>
              <a:t>LangChain — Simple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Pipeline: plan → select_tool → marshal_request → invoke_tool → parse_response → synthesize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Single tool (local_search) returns deterministic JSON results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Context blob scales with --context-size: 416B (short) / 1.6KB (med) / 6.6KB (long)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Computational core: JSON encode/decode with sort_keys, dict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F77B4"/>
                </a:solidFill>
              </a:defRPr>
            </a:pPr>
            <a:r>
              <a:t>LangGraph — Graph-Structured ReAct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Uses create_react_agent with FakeToolCallingModel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Per iteration: 3 tool calls (cpu_analyze → memory_profile → branch_analyze)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Adds message accumulation and graph-node traversal overhead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More framework overhead than LangChain: state checkpointing, edge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579A"/>
                </a:solidFill>
              </a:defRPr>
            </a:pPr>
            <a:r>
              <a:t>Workload Algorithms (2/3): AutoGen &amp; Haystack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A02C"/>
                </a:solidFill>
              </a:defRPr>
            </a:pPr>
            <a:r>
              <a:t>AutoGen — Async Multi-Agent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AssistantAgent with ReplayChatCompletionClient (7 scripted responses)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3 async tools: topdown_analyze, cache_profile, branch_stats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Python asyncio event loop adds coroutine scheduling overhead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Distinct from LangChain/LangGraph: async/await dispatch, different runtime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A02C"/>
                </a:solidFill>
              </a:defRPr>
            </a:pPr>
            <a:r>
              <a:t>Haystack — RAG Pipeline (Real ML Inference)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Real SentenceTransformer model: all-MiniLM-L6-v2 (22M params, FP32)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Pipeline: embed_query → FAISS vector_search (top-k=10) → rerank → synthesize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Corpus scales: 100 docs (short) / 500 (med) / 2000 (long)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SIMD-heavy: PyTorch FP32 inference, FAISS IndexFlatIP dot products, numpy ops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Only workload with real ML compute — expected backend-bound (memory/FP)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579A"/>
                </a:solidFill>
              </a:defRPr>
            </a:pPr>
            <a:r>
              <a:t>Workload Algorithms (3/3): SWE-Agent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9467BD"/>
                </a:solidFill>
              </a:defRPr>
            </a:pPr>
            <a:r>
              <a:t>SWE-Agent — Multi-Step Planning Agent (Bug-Fix Simulation)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Built on LangGraph StateGraph with 5 nodes: planner → tool_selector → tool_executor → observer → check_done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Rich AgentState: task, plan[], completed[], file_state{}, observations[], step_count, messages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6 mock developer tools (pure-CPU, in-memory file system):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read_file, write_file, list_dir — dict key/value operations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grep_files — regex compilation + search across file corpus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run_tests — conditional pass/fail based on step count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apply_patch — deterministic string mutation (simulates a-b → a+b fix)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20-step scripted sequence per iteration with conditional replanning every 2 steps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Deepest control flow of all workloads — closest to real multi-step agent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579A"/>
                </a:solidFill>
              </a:defRPr>
            </a:pPr>
            <a:r>
              <a:t>CPU Performance Characteristics (perf stat, Top-Down L1)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9728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Retiring %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Bad Spec %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Frontend</a:t>
                      </a:r>
                    </a:p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Bound %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Backend</a:t>
                      </a:r>
                    </a:p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Bound %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Exec Time</a:t>
                      </a:r>
                    </a:p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(representative)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Peak RSS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19.0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26.6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50.2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12s (short/250)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50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17.9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4.1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30.8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47.2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~2 min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~80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AutoGen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19.5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32.2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43.7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~2 min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~90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Haystack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22.1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28.6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44.5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2m31s (short/100)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519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SWE-Agent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19.9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26.7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48.9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2m8s (short/150)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252 MB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All agent workloads are dominated by backend-bound stalls (44-53%) — memory/data dependencies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Frontend-bound is significant (25-32%) — large Python code footprint, indirect dispatch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Retiring is low (17-22%) — typical of interpreted languages with high overhead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Bad speculation is modest (4-5%) — branch prediction handles Python's patterns reasonably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Haystack shows higher variance across variants — real ML inference vs framework overhead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579A"/>
                </a:solidFill>
              </a:defRPr>
            </a:pPr>
            <a:r>
              <a:t>Top-Down L1 Breakdown by Workload (Average Across Variants)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3975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7F7F7F"/>
                </a:solidFill>
              </a:defRPr>
            </a:pPr>
            <a:r>
              <a:t>0%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0"/>
            <a:ext cx="8686800" cy="63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368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7F7F7F"/>
                </a:solidFill>
              </a:defRPr>
            </a:pPr>
            <a:r>
              <a:t>25%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457700"/>
            <a:ext cx="8686800" cy="63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401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7F7F7F"/>
                </a:solidFill>
              </a:defRPr>
            </a:pPr>
            <a:r>
              <a:t>50%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429000"/>
            <a:ext cx="8686800" cy="63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11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7F7F7F"/>
                </a:solidFill>
              </a:defRPr>
            </a:pPr>
            <a:r>
              <a:t>75%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400300"/>
            <a:ext cx="8686800" cy="63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2827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7F7F7F"/>
                </a:solidFill>
              </a:defRPr>
            </a:pPr>
            <a:r>
              <a:t>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371600"/>
            <a:ext cx="8686800" cy="63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4703902"/>
            <a:ext cx="1280160" cy="782497"/>
          </a:xfrm>
          <a:prstGeom prst="rect">
            <a:avLst/>
          </a:prstGeom>
          <a:solidFill>
            <a:srgbClr val="2CA0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19%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530394"/>
            <a:ext cx="1280160" cy="173507"/>
          </a:xfrm>
          <a:prstGeom prst="rect">
            <a:avLst/>
          </a:prstGeom>
          <a:solidFill>
            <a:srgbClr val="FF7F0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3437915"/>
            <a:ext cx="1280160" cy="1092479"/>
          </a:xfrm>
          <a:prstGeom prst="rect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27%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372971"/>
            <a:ext cx="1280160" cy="2064943"/>
          </a:xfrm>
          <a:prstGeom prst="rect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577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LangChain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4747793"/>
            <a:ext cx="1280160" cy="738606"/>
          </a:xfrm>
          <a:prstGeom prst="rect">
            <a:avLst/>
          </a:prstGeom>
          <a:solidFill>
            <a:srgbClr val="2CA0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18%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580458"/>
            <a:ext cx="1280160" cy="167335"/>
          </a:xfrm>
          <a:prstGeom prst="rect">
            <a:avLst/>
          </a:prstGeom>
          <a:solidFill>
            <a:srgbClr val="FF7F0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313785"/>
            <a:ext cx="1280160" cy="1266672"/>
          </a:xfrm>
          <a:prstGeom prst="rect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31%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370914"/>
            <a:ext cx="1280160" cy="1942871"/>
          </a:xfrm>
          <a:prstGeom prst="rect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47%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577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LangGraph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4685385"/>
            <a:ext cx="1280160" cy="801014"/>
          </a:xfrm>
          <a:prstGeom prst="rect">
            <a:avLst/>
          </a:prstGeom>
          <a:solidFill>
            <a:srgbClr val="2CA0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19%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4495419"/>
            <a:ext cx="1280160" cy="189966"/>
          </a:xfrm>
          <a:prstGeom prst="rect">
            <a:avLst/>
          </a:prstGeom>
          <a:solidFill>
            <a:srgbClr val="FF7F0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0" y="3169081"/>
            <a:ext cx="1280160" cy="1326337"/>
          </a:xfrm>
          <a:prstGeom prst="rect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32%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1371599"/>
            <a:ext cx="1280160" cy="1797481"/>
          </a:xfrm>
          <a:prstGeom prst="rect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44%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577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AutoGen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577715"/>
            <a:ext cx="1280160" cy="908685"/>
          </a:xfrm>
          <a:prstGeom prst="rect">
            <a:avLst/>
          </a:prstGeom>
          <a:solidFill>
            <a:srgbClr val="2CA0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22%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376089"/>
            <a:ext cx="1280160" cy="201625"/>
          </a:xfrm>
          <a:prstGeom prst="rect">
            <a:avLst/>
          </a:prstGeom>
          <a:solidFill>
            <a:srgbClr val="FF7F0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3200628"/>
            <a:ext cx="1280160" cy="1175461"/>
          </a:xfrm>
          <a:prstGeom prst="rect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29%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1370914"/>
            <a:ext cx="1280160" cy="1829714"/>
          </a:xfrm>
          <a:prstGeom prst="rect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44%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577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Haystack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4666869"/>
            <a:ext cx="1280160" cy="819531"/>
          </a:xfrm>
          <a:prstGeom prst="rect">
            <a:avLst/>
          </a:prstGeom>
          <a:solidFill>
            <a:srgbClr val="2CA0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4480331"/>
            <a:ext cx="1280160" cy="186537"/>
          </a:xfrm>
          <a:prstGeom prst="rect">
            <a:avLst/>
          </a:prstGeom>
          <a:solidFill>
            <a:srgbClr val="FF7F0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3382365"/>
            <a:ext cx="1280160" cy="1097965"/>
          </a:xfrm>
          <a:prstGeom prst="rect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27%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1371600"/>
            <a:ext cx="1280160" cy="2010765"/>
          </a:xfrm>
          <a:prstGeom prst="rect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49%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577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SWE-Agent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1188720"/>
            <a:ext cx="228600" cy="1828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116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</a:defRPr>
            </a:pPr>
            <a:r>
              <a:t>Retiring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1508760"/>
            <a:ext cx="228600" cy="18288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148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</a:defRPr>
            </a:pPr>
            <a:r>
              <a:t>Bad Speculation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828800"/>
            <a:ext cx="228600" cy="1828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4040" y="180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</a:defRPr>
            </a:pPr>
            <a:r>
              <a:t>Frontend Bound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2148840"/>
            <a:ext cx="228600" cy="18288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212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</a:defRPr>
            </a:pPr>
            <a:r>
              <a:t>Backend Bound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579A"/>
                </a:solidFill>
              </a:defRPr>
            </a:pPr>
            <a:r>
              <a:t>Infrastructure Updates: scarab-infra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Added 5 agent workloads with Docker-containerized environments: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LangChain, LangGraph, AutoGen — Python 3.10 + framework packages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Haystack — sentence-transformers + FAISS + numpy (model pre-downloaded at build time)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SWE-Agent — LangGraph StateGraph with rich state and 6 mock developer tools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Each workload: 6 variants (short/medium/long × 2 iteration counts) = 30 configurations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Trace pipeline: cluster_then_trace (SimPoint) with libfpg.so fingerprinting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Perf pipeline: perf stat with Top-Down L1 counters on pinned core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Slurm integration: parallel job submission, auto image build on nodes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Status tracking: ./sci --status shows per-job stage (fingerprinting/clustering/tracing/...)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Key files modified: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workloads/agent/ — Dockerfile + run scripts (run_langchain.py, run_langgraph.py, etc.)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json/agent_trace.json, agent_perf.json — 30-variant descriptors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common/scripts/run_simpoint_trace.py — multi-thread handling, DR config isolation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scripts/slurm_runner.py — stage progress, kill wait, image cleanup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579A"/>
                </a:solidFill>
              </a:defRPr>
            </a:pPr>
            <a:r>
              <a:t>DynamoRIO Fixes (fork: 5surim/dynamorio)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D62728"/>
                </a:solidFill>
              </a:defRPr>
            </a:pPr>
            <a:r>
              <a:t>Two problems with DynamoRIO on multi-threaded Python 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Root Cause 1: SIGSEGV crash — race in module_list_remove() (core/module_list.c)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module_list_remove() released write lock for client callback, module still in vmvector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Another thread gets module name pointer via vmvector_lookup during this window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First thread re-acquires lock, frees module data → second thread's pointer is stale → SIGSEGV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Root Cause 2: libfpg.so not loading — DR config cross-contamination on shared NFS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DR caches per-process configs in ~/.dynamorio/ keyed by binary+PID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Concurrent slurm jobs on same NFS home pick up each other's config files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Wrong config → libfpg.so client not loaded → empty fingerprint output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Fix 1 (for RC1): Root cause fix in module_list_remove() (core/module_list.c)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Move module_area_delete() + vmvector removal before releasing write lock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Client callback only uses client_data (a copy), does not need original module_area_t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Eliminates the race window entirely — no thread can get a stale pointer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Fix 2 (for RC1): strhash_key_cmp safe_read guard (core/hashtable.c)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Defense-in-depth: safe_read check on hash table key pointers before strcmp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Fix 3 (for RC2): Per-job HOME override (scarab-infra, run_simpoint_trace.py)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HOME={workload_dir} on drrun commands — isolates ~/.dynamorio/ per job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579A"/>
                </a:solidFill>
              </a:defRPr>
            </a:pPr>
            <a:r>
              <a:t>Scarab Fix + Multi-Threaded Workload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F77B4"/>
                </a:solidFill>
              </a:defRPr>
            </a:pPr>
            <a:r>
              <a:t>Scarab Build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GCC 11 (Ubuntu 22.04) treats -Wclass-memaccess as error with -Werror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cbp_tagescl_64k.h: memset() on non-trivial C++ classes (cbp64_folded_history, cbp64_lentry)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Fix: replaced memset with default-construction loops: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for (auto &amp;x : ch_i) x = cbp64_folded_history();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for (auto &amp;row : ch_t) for (auto &amp;x : row) x = cbp64_folded_history();  // 2D array</a:t>
            </a:r>
          </a:p>
          <a:p>
            <a:pPr lvl="1"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for (auto &amp;x : ltable) x = cbp64_lentry();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F77B4"/>
                </a:solidFill>
              </a:defRPr>
            </a:pPr>
            <a:r>
              <a:t>Multi-Threaded Fingerprint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Python workloads spawn helper threads (GC, import, signal handlers)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libfpg.so creates per-thread fingerprint files (bbfp.&lt;thread_id&gt;)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cluster_then_trace expected exactly 1 bbfp file — failed with multiple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Fix: pick the main thread's fingerprint (file with most segments)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CPython GIL ensures main thread dominates instruction execution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Simulating the dominant thread on a single core is representative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B579A"/>
                </a:solidFill>
              </a:defRPr>
            </a:pPr>
            <a:r>
              <a:t>Current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9728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Perf collection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(perf stat)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30/30 variants collected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Top-Down L1 data in workloads_db.json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Trace collection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(SimPoint fingerprint)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30 jobs running on slurm cluster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(cluster_then_trace mode with libfpg.so)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Trace collection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(SimPoint clustering + tracing)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Runs after fingerprinting completes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Scarab simulation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Will run after traces are collected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DynamoRIO fork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Root cause fix in module_list_remove()</a:t>
                      </a:r>
                    </a:p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+ strhash_key_cmp guard + HOME isolation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Scarab fork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GCC 11 build fix for cbp_tagescl_64k.h</a:t>
                      </a:r>
                    </a:p>
                  </a:txBody>
                  <a:tcPr anchor="ctr">
                    <a:noFill/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B579A"/>
                </a:solidFill>
              </a:defRPr>
            </a:pPr>
            <a:r>
              <a:t>Next Steps (1/2): Trace Collection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1. Complete SimPoint trace collection (30 workload variants)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Fingerprinting → clustering → representative segment tracing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Expected: ~10-20 simpoints per workload variant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2. Run Scarab cycle-accurate simulation on collected traces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Simulate each simpoint segment with detailed microarchitecture model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Collect IPC, cache miss rates, branch misprediction rates, pipeline utilization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3. Detailed microarchitectural analysis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Compare agent workloads vs traditional benchmarks (SPEC, datacenter)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Identify bottlenecks: i-cache misses, d-cache pressure, branch misprediction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Characterize per-workload signatures: RAG (backend/SIMD) vs framework (frontend)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4. Control flow graph (CFG) analysis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Extract CFGs from traces: basic block size distribution, branch type breakdown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Compare loop depth, fan-out, indirect branch density across workloads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Hot code footprint: what fraction of unique PCs covers 90%/99% of execution?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B579A"/>
                </a:solidFill>
              </a:defRPr>
            </a:pPr>
            <a:r>
              <a:t>Next Steps (2/2): Architecture Sensitivity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5. Frontend-bound studies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I-cache size sweep (32/64/128KB) — Python's large code footprint likely causes high i-miss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BTB size sensitivity — many indirect branch targets from polymorphic dispatch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Fetch/decode width sensitivity — wider frontend vs capacity-bound?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6. Backend-bound studies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D-cache hierarchy sweep: L1D (32/48/64KB), L2 (256/512KB/1MB), LLC (2/4/8MB)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Reuse distance analysis — quantify temporal locality in dict/JSON/hash table accesses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ROB size sensitivity (256/384/512) — larger ROB to extract MLP and hide cache misses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Prefetcher effectiveness — stride vs complex; irregular access patterns may defeat stride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7. Cross-cutting studies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Core width sweep (4/6/8-wide) — are agent workloads ILP-limited?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Branch predictor config sweep — TAGE history length, indirect predictor sizing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Haystack (FP/SIMD) vs framework (branchy/string) — quantify architectural divergence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8. Upstream DynamoRIO fix</a:t>
            </a:r>
          </a:p>
          <a:p>
            <a:pPr lvl="1"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Submit PR with module_list_remove() race fix to DynamoRIO upstream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579A"/>
                </a:solidFill>
              </a:defRPr>
            </a:pPr>
            <a:r>
              <a:t>Appendix: SimPoint Methodology (cluster_then_trace)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Phase 1: Fingerprinting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Run workload under DynamoRIO with libfpg.so client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Collect basic block frequency vectors every 10M instructions (segment)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Output: bbfp.&lt;tid&gt; (fingerprint) + pcmap.&lt;tid&gt; (PC mapping)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Phase 2: Clustering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SimPoint k-means clustering on BB frequency vectors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Select representative segments (simpoints) with weights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Typically 10-20 clusters per workload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Phase 3: Trace Collection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Re-run workload under DynamoRIO drcachesim, trace only selected segments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-trace_after_instrs N -trace_for_instrs M to capture specific instruction windows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5 segments of warmup (50M instructions) before each simpoint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Phase 4: Simulation (next step)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Feed traces to Scarab cycle-accurate simulator</a:t>
            </a:r>
          </a:p>
          <a:p>
            <a:pPr lvl="1">
              <a:spcAft>
                <a:spcPts val="300"/>
              </a:spcAft>
              <a:defRPr sz="1400">
                <a:solidFill>
                  <a:srgbClr val="2D2D2D"/>
                </a:solidFill>
              </a:defRPr>
            </a:pPr>
            <a:r>
              <a:t>Weighted IPC = sum(simpoint_weight × simpoint_IPC)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